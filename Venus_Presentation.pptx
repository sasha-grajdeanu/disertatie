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2FF"/>
                </a:solidFill>
                <a:latin typeface="Calibri"/>
              </a:defRPr>
            </a:pPr>
            <a:r>
              <a:t>VENUS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Automated Test Generation via Rewriting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CC"/>
                </a:solidFill>
                <a:latin typeface="Calibri"/>
              </a:defRPr>
            </a:pPr>
            <a:r>
              <a:t>Sasha Grajdeanu</a:t>
            </a:r>
          </a:p>
          <a:p>
            <a:pPr>
              <a:spcBef>
                <a:spcPts val="600"/>
              </a:spcBef>
              <a:defRPr sz="1600" b="0">
                <a:solidFill>
                  <a:srgbClr val="BBBBCC"/>
                </a:solidFill>
                <a:latin typeface="Calibri"/>
              </a:defRPr>
            </a:pPr>
            <a:r>
              <a:t>Dissertation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606040"/>
            <a:ext cx="3047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Motivation &amp;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500"/>
                </a:solidFill>
                <a:latin typeface="Calibri"/>
              </a:defRPr>
            </a:pPr>
            <a:r>
              <a:t>The Problem</a:t>
            </a:r>
          </a:p>
          <a:p>
            <a:pPr>
              <a:spcBef>
                <a:spcPts val="400"/>
              </a:spcBef>
              <a:defRPr sz="1600">
                <a:solidFill>
                  <a:srgbClr val="BBBBCC"/>
                </a:solidFill>
                <a:latin typeface="Calibri"/>
              </a:defRPr>
            </a:pPr>
            <a:r>
              <a:t>Writing unit tests is manual and tedious</a:t>
            </a:r>
          </a:p>
          <a:p>
            <a:pPr>
              <a:spcBef>
                <a:spcPts val="400"/>
              </a:spcBef>
              <a:defRPr sz="1600">
                <a:solidFill>
                  <a:srgbClr val="BBBBCC"/>
                </a:solidFill>
                <a:latin typeface="Calibri"/>
              </a:defRPr>
            </a:pPr>
            <a:r>
              <a:t>Developers must guess which inputs matter</a:t>
            </a:r>
          </a:p>
          <a:p>
            <a:pPr>
              <a:spcBef>
                <a:spcPts val="400"/>
              </a:spcBef>
              <a:defRPr sz="1600">
                <a:solidFill>
                  <a:srgbClr val="BBBBCC"/>
                </a:solidFill>
                <a:latin typeface="Calibri"/>
              </a:defRPr>
            </a:pPr>
            <a:r>
              <a:t>Edge cases and runtime errors are easy to miss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Calibri"/>
              </a:defRPr>
            </a:pPr>
            <a:r>
              <a:t>Our Solution</a:t>
            </a:r>
          </a:p>
          <a:p>
            <a:pPr>
              <a:spcBef>
                <a:spcPts val="400"/>
              </a:spcBef>
              <a:defRPr sz="1600">
                <a:solidFill>
                  <a:srgbClr val="BBBBCC"/>
                </a:solidFill>
                <a:latin typeface="Calibri"/>
              </a:defRPr>
            </a:pPr>
            <a:r>
              <a:t>Venus = imperative language + Maude formal engine</a:t>
            </a:r>
          </a:p>
          <a:p>
            <a:pPr>
              <a:spcBef>
                <a:spcPts val="400"/>
              </a:spcBef>
              <a:defRPr sz="1600">
                <a:solidFill>
                  <a:srgbClr val="BBBBCC"/>
                </a:solidFill>
                <a:latin typeface="Calibri"/>
              </a:defRPr>
            </a:pPr>
            <a:r>
              <a:t>Execution defined as term rewriting (Rewriting Logic)</a:t>
            </a:r>
          </a:p>
          <a:p>
            <a:pPr>
              <a:spcBef>
                <a:spcPts val="400"/>
              </a:spcBef>
              <a:defRPr sz="1600">
                <a:solidFill>
                  <a:srgbClr val="BBBBCC"/>
                </a:solidFill>
                <a:latin typeface="Calibri"/>
              </a:defRPr>
            </a:pPr>
            <a:r>
              <a:t>Same engine executes code OR explores all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515600" cy="109728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.venus file  ──►  Python CLI  ──►  Maude Engine  ──►  Results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                                  ├─ VENUS-TS    (normal execution)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                                  └─ VENUS-TEST  (test discovery)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python main.py program.venus        →  Execute normally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Calibri"/>
              </a:defRPr>
            </a:pPr>
            <a:r>
              <a:t>python main.py program.venus -s   →  Discover all test scenarios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The Formal Machine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onsolas"/>
              </a:defRPr>
            </a:pPr>
            <a:r>
              <a:t>State  =  &lt; Control  |  Stack  |  Memory &gt;</a:t>
            </a:r>
          </a:p>
          <a:p>
            <a:pPr>
              <a:spcBef>
                <a:spcPts val="400"/>
              </a:spcBef>
              <a:defRPr sz="1600">
                <a:solidFill>
                  <a:srgbClr val="BBBBCC"/>
                </a:solidFill>
                <a:latin typeface="Calibri"/>
              </a:defRPr>
            </a:pPr>
            <a:r>
              <a:t>Control — instruction stream (what to execute next)</a:t>
            </a:r>
          </a:p>
          <a:p>
            <a:pPr>
              <a:spcBef>
                <a:spcPts val="400"/>
              </a:spcBef>
              <a:defRPr sz="1600">
                <a:solidFill>
                  <a:srgbClr val="BBBBCC"/>
                </a:solidFill>
                <a:latin typeface="Calibri"/>
              </a:defRPr>
            </a:pPr>
            <a:r>
              <a:t>Stack — intermediate values during expression evaluation</a:t>
            </a:r>
          </a:p>
          <a:p>
            <a:pPr>
              <a:spcBef>
                <a:spcPts val="400"/>
              </a:spcBef>
              <a:defRPr sz="1600">
                <a:solidFill>
                  <a:srgbClr val="BBBBCC"/>
                </a:solidFill>
                <a:latin typeface="Calibri"/>
              </a:defRPr>
            </a:pPr>
            <a:r>
              <a:t>Memory — variable bindings (associative-commutative)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AC Memory — O(1) variable lookup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4846320" cy="91440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op _,_ : Memory Memory -&gt; Memory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       [assoc comm id: empty] .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eq get(((X -&gt; N), M), X) = N 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926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Desugaring — minimal 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383280"/>
            <a:ext cx="5212080" cy="91440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eq for(Init,Cond,Step) do Body od =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 Init ; while Cond do Body;Step od .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eq if C then B fi = if C then B else skip fi 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The engine only implements while and binary if — everything else is syntactic sugar.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The Testing Engine — cAutoTest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  <a:latin typeface="Calibri"/>
              </a:defRPr>
            </a:pPr>
            <a:r>
              <a:t>① Extract constants from AST</a:t>
            </a:r>
          </a:p>
          <a:p>
            <a:pPr>
              <a:spcBef>
                <a:spcPts val="400"/>
              </a:spcBef>
              <a:defRPr sz="1600">
                <a:solidFill>
                  <a:srgbClr val="BBBBCC"/>
                </a:solidFill>
                <a:latin typeface="Calibri"/>
              </a:defRPr>
            </a:pPr>
            <a:r>
              <a:t>if ('score gte 50)  →  extracts 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  <a:latin typeface="Calibri"/>
              </a:defRPr>
            </a:pPr>
            <a:r>
              <a:t>② Generate boundary values</a:t>
            </a:r>
          </a:p>
          <a:p>
            <a:pPr>
              <a:spcBef>
                <a:spcPts val="400"/>
              </a:spcBef>
              <a:defRPr sz="1600">
                <a:solidFill>
                  <a:srgbClr val="BBBBCC"/>
                </a:solidFill>
                <a:latin typeface="Calibri"/>
              </a:defRPr>
            </a:pPr>
            <a:r>
              <a:t>Each N  →  {N-1, N, N+1}</a:t>
            </a:r>
          </a:p>
          <a:p>
            <a:pPr>
              <a:spcBef>
                <a:spcPts val="400"/>
              </a:spcBef>
              <a:defRPr sz="1600">
                <a:solidFill>
                  <a:srgbClr val="BBBBCC"/>
                </a:solidFill>
                <a:latin typeface="Calibri"/>
              </a:defRPr>
            </a:pPr>
            <a:r>
              <a:t>Always includes 0 and 1 as base cases</a:t>
            </a:r>
          </a:p>
          <a:p>
            <a:pPr>
              <a:spcBef>
                <a:spcPts val="400"/>
              </a:spcBef>
              <a:defRPr sz="1600">
                <a:solidFill>
                  <a:srgbClr val="BBBBCC"/>
                </a:solidFill>
                <a:latin typeface="Calibri"/>
              </a:defRPr>
            </a:pPr>
            <a:r>
              <a:t>50  →  {0, 1, 49, 50, 51}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  <a:latin typeface="Calibri"/>
              </a:defRPr>
            </a:pPr>
            <a:r>
              <a:t>③ Remove duplicates (AC IntSet)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5029200" cy="64008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eq N ;; N = N .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--- Algebraic dedup, no filtering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  <a:latin typeface="Calibri"/>
              </a:defRPr>
            </a:pPr>
            <a:r>
              <a:t>④ Nondeterministic execution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291840"/>
            <a:ext cx="5029200" cy="64008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rl [pickValue] :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 testValues(N ;; SSet) =&gt; N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Maude's search explores every combination simultaneously — all paths tested in one command.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515600" cy="137160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rl [DoAutoTest] :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&lt; cAutoTest # CTRL | STK | (F =&gt; [L, S]) , MRY &gt;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=&gt;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&lt; (call F (genTestArgs(L,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    0 ;; 1 ;; toIntSet(genBoundaries(extractConstants(S))))))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  # CTRL | STK | (F =&gt; [L, S]) , tested(F) , MRY &gt; 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Demo: Branching — checkStatus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146304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def 'checkStatus ('score) {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  'passed := 0 ;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  if ('score gte 50) then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      'passed := 1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  fi ;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  'checked := 1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Calibri"/>
              </a:defRPr>
            </a:pPr>
            <a:r>
              <a:t>Result: 2 execution paths discovered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474720"/>
          <a:ext cx="10515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0292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Inputs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'score = 0,  'score = 1,  'score = 49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'passed = 0,  'checked = 1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'score = 50,  'score = 51</a:t>
                      </a:r>
                    </a:p>
                  </a:txBody>
                  <a:tcPr>
                    <a:solidFill>
                      <a:srgbClr val="1A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'passed = 1,  'checked = 1</a:t>
                      </a:r>
                    </a:p>
                  </a:txBody>
                  <a:tcPr>
                    <a:solidFill>
                      <a:srgbClr val="1A263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✓  Boundary at 50 found automatically — zero manual tests written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Demo: Loops — classify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146304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def 'classify ('n) {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  'sum := 0 ; 'i := 1 ;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  while ('i lte 'n) do 'sum := 'sum + 'i ; 'i := 'i + 1 od ;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  if ('sum gt 10) then 'category := 2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  else if ('sum gt 0) then 'category := 1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       else 'category := 0 fi fi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Constants: 0, 1, 2, 10  →  Boundaries: -1, 0, 1, 2, 3, 9, 10,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Calibri"/>
              </a:defRPr>
            </a:pPr>
            <a:r>
              <a:t>Result: 5 execution paths discovered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749039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2286000"/>
                <a:gridCol w="210312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Input 'n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Loop iterations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'sum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'category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0, -1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26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A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A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A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1A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26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✓  Loop + nested conditionals explored automatically, up to 11 iterations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Demo: Runtime Error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4572000" cy="73152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def 'divide ('x , 'y) {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  'result := 'x / 'y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How it works:</a:t>
            </a:r>
          </a:p>
          <a:p>
            <a:pPr>
              <a:spcBef>
                <a:spcPts val="400"/>
              </a:spcBef>
              <a:defRPr sz="1600">
                <a:solidFill>
                  <a:srgbClr val="BBBBCC"/>
                </a:solidFill>
                <a:latin typeface="Calibri"/>
              </a:defRPr>
            </a:pPr>
            <a:r>
              <a:t>Division rule has a guard: N2 ≠ 0</a:t>
            </a:r>
          </a:p>
          <a:p>
            <a:pPr>
              <a:spcBef>
                <a:spcPts val="400"/>
              </a:spcBef>
              <a:defRPr sz="1600">
                <a:solidFill>
                  <a:srgbClr val="BBBBCC"/>
                </a:solidFill>
                <a:latin typeface="Calibri"/>
              </a:defRPr>
            </a:pPr>
            <a:r>
              <a:t>When 'y = 0, the rule cannot fire</a:t>
            </a:r>
          </a:p>
          <a:p>
            <a:pPr>
              <a:spcBef>
                <a:spcPts val="400"/>
              </a:spcBef>
              <a:defRPr sz="1600">
                <a:solidFill>
                  <a:srgbClr val="BBBBCC"/>
                </a:solidFill>
                <a:latin typeface="Calibri"/>
              </a:defRPr>
            </a:pPr>
            <a:r>
              <a:t>State gets stuck — no crash</a:t>
            </a:r>
          </a:p>
          <a:p>
            <a:pPr>
              <a:spcBef>
                <a:spcPts val="400"/>
              </a:spcBef>
              <a:defRPr sz="1600">
                <a:solidFill>
                  <a:srgbClr val="BBBBCC"/>
                </a:solidFill>
                <a:latin typeface="Calibri"/>
              </a:defRPr>
            </a:pPr>
            <a:r>
              <a:t>Maude safely isolates the error branch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515600" cy="201168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⚠  STUCK STATES (Runtime Errors): 2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─────────────────────────────────────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Error 1: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 Input: 'x = 0, 'y = 0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 Stuck at: cDiv # cAssign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 Cause: Division by zero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Error 2: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 Input: 'x = 1, 'y = 0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 Stuck at: cDiv # cAssign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 Cause: Division by 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The guard in the Maude rule: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515600" cy="64008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crl [DivEval] : &lt; cDiv # CTRL | N2 $ N1 $ STK | MRY &gt;</a:t>
            </a:r>
          </a:p>
          <a:p>
            <a:pPr>
              <a:spcBef>
                <a:spcPts val="200"/>
              </a:spcBef>
              <a:defRPr sz="1400">
                <a:solidFill>
                  <a:srgbClr val="00E676"/>
                </a:solidFill>
                <a:latin typeface="Consolas"/>
              </a:defRPr>
            </a:pPr>
            <a:r>
              <a:t>  =&gt; &lt; CTRL | (N1 quo N2) $ STK | MRY &gt;  if (N2 =/= 0) 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Future Directions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A500"/>
                </a:solidFill>
                <a:latin typeface="Calibri"/>
              </a:defRPr>
            </a:pPr>
            <a:r>
              <a:t>Optimize the code</a:t>
            </a:r>
          </a:p>
          <a:p>
            <a:pPr>
              <a:spcBef>
                <a:spcPts val="400"/>
              </a:spcBef>
              <a:defRPr sz="1800">
                <a:solidFill>
                  <a:srgbClr val="BBBBCC"/>
                </a:solidFill>
                <a:latin typeface="Calibri"/>
              </a:defRPr>
            </a:pPr>
            <a:r>
              <a:t>Reduce redundant rewrite paths in the Maude search space</a:t>
            </a:r>
          </a:p>
          <a:p>
            <a:pPr>
              <a:spcBef>
                <a:spcPts val="400"/>
              </a:spcBef>
              <a:defRPr sz="1800">
                <a:solidFill>
                  <a:srgbClr val="BBBBCC"/>
                </a:solidFill>
                <a:latin typeface="Calibri"/>
              </a:defRPr>
            </a:pPr>
            <a:r>
              <a:t>Improve performance for programs with larger state spaces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A500"/>
                </a:solidFill>
                <a:latin typeface="Calibri"/>
              </a:defRPr>
            </a:pPr>
            <a:r>
              <a:t>Handle more edge cases</a:t>
            </a:r>
          </a:p>
          <a:p>
            <a:pPr>
              <a:spcBef>
                <a:spcPts val="400"/>
              </a:spcBef>
              <a:defRPr sz="1800">
                <a:solidFill>
                  <a:srgbClr val="BBBBCC"/>
                </a:solidFill>
                <a:latin typeface="Calibri"/>
              </a:defRPr>
            </a:pPr>
            <a:r>
              <a:t>Test with more complex program structures (deeply nested conditionals, multi-parameter functions)</a:t>
            </a:r>
          </a:p>
          <a:p>
            <a:pPr>
              <a:spcBef>
                <a:spcPts val="400"/>
              </a:spcBef>
              <a:defRPr sz="1800">
                <a:solidFill>
                  <a:srgbClr val="BBBBCC"/>
                </a:solidFill>
                <a:latin typeface="Calibri"/>
              </a:defRPr>
            </a:pPr>
            <a:r>
              <a:t>Identify and fix cases not yet covered by the testing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A500"/>
                </a:solidFill>
                <a:latin typeface="Calibri"/>
              </a:defRPr>
            </a:pPr>
            <a:r>
              <a:t>Extend the language</a:t>
            </a:r>
          </a:p>
          <a:p>
            <a:pPr>
              <a:spcBef>
                <a:spcPts val="400"/>
              </a:spcBef>
              <a:defRPr sz="1800">
                <a:solidFill>
                  <a:srgbClr val="BBBBCC"/>
                </a:solidFill>
                <a:latin typeface="Calibri"/>
              </a:defRPr>
            </a:pPr>
            <a:r>
              <a:t>Add new Venus constructs and verify the testing engine adapts correctly</a:t>
            </a:r>
          </a:p>
          <a:p>
            <a:pPr>
              <a:spcBef>
                <a:spcPts val="400"/>
              </a:spcBef>
              <a:defRPr sz="1800">
                <a:solidFill>
                  <a:srgbClr val="BBBBCC"/>
                </a:solidFill>
                <a:latin typeface="Calibri"/>
              </a:defRPr>
            </a:pPr>
            <a:r>
              <a:t>Expand the set of example programs to validate robustness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Rewriting Logic is a practical execution engine, not just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65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Nondeterminism gives exhaustive path exploration for 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AC matching eliminates boilerplate (memory lookup, deduplication)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5467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1546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The testing framework requires zero manual test definitions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4903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Works on branching, loops, and error detection — all automatically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572000"/>
            <a:ext cx="9448495" cy="9144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i="1">
                <a:solidFill>
                  <a:srgbClr val="FFFFFF"/>
                </a:solidFill>
                <a:latin typeface="Calibri"/>
              </a:defRPr>
            </a:pPr>
            <a:r>
              <a:t>The same formal semantics that define the language also test it — automatically and exhaustively.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D2FF"/>
                </a:solidFill>
                <a:latin typeface="Calibri"/>
              </a:defRPr>
            </a:pPr>
            <a:r>
              <a:t>Thank you!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